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2" r:id="rId4"/>
  </p:sldMasterIdLst>
  <p:sldIdLst>
    <p:sldId id="281" r:id="rId5"/>
    <p:sldId id="282" r:id="rId6"/>
    <p:sldId id="284" r:id="rId7"/>
    <p:sldId id="285" r:id="rId8"/>
    <p:sldId id="286" r:id="rId9"/>
    <p:sldId id="288" r:id="rId10"/>
    <p:sldId id="287" r:id="rId11"/>
    <p:sldId id="289" r:id="rId12"/>
    <p:sldId id="291" r:id="rId13"/>
    <p:sldId id="292" r:id="rId14"/>
    <p:sldId id="29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0"/>
  </p:normalViewPr>
  <p:slideViewPr>
    <p:cSldViewPr snapToGrid="0" snapToObjects="1">
      <p:cViewPr>
        <p:scale>
          <a:sx n="82" d="100"/>
          <a:sy n="82" d="100"/>
        </p:scale>
        <p:origin x="72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\AICTL%20Assignment%20Files\AICTL%20Final%20Project\Group%208_Quantification%20&amp;%20Data_%20Real%20Estate%20Agenc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\AICTL%20Assignment%20Files\AICTL%20Final%20Project\Group%208_Quantification%20&amp;%20Data_%20Real%20Estate%20Agenc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\AICTL%20Assignment%20Files\AICTL%20Final%20Project\Group%208_Quantification%20&amp;%20Data_%20Real%20Estate%20Agenc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en-GB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</a:t>
            </a:r>
            <a:endParaRPr lang="en-GB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8.7392123076028241E-2"/>
          <c:y val="0.195932382461701"/>
          <c:w val="0.88490704589904101"/>
          <c:h val="0.639681628544451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6158818097876247E-2"/>
                  <c:y val="-0.3486529318541997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541067754342341"/>
                      <c:h val="0.1331952364908427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6BBE-42AD-942F-7FA31DD46396}"/>
                </c:ext>
              </c:extLst>
            </c:dLbl>
            <c:dLbl>
              <c:idx val="1"/>
              <c:layout>
                <c:manualLayout>
                  <c:x val="-9.2336103416436246E-3"/>
                  <c:y val="-0.253565768621236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BBE-42AD-942F-7FA31DD46396}"/>
                </c:ext>
              </c:extLst>
            </c:dLbl>
            <c:dLbl>
              <c:idx val="2"/>
              <c:layout>
                <c:manualLayout>
                  <c:x val="2.7700831024930747E-2"/>
                  <c:y val="-0.2430005282620180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038497611621263"/>
                      <c:h val="0.1331952364908427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BBE-42AD-942F-7FA31DD46396}"/>
                </c:ext>
              </c:extLst>
            </c:dLbl>
            <c:dLbl>
              <c:idx val="3"/>
              <c:layout>
                <c:manualLayout>
                  <c:x val="4.6168051708218028E-3"/>
                  <c:y val="-0.15847860538827269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964948633498377"/>
                      <c:h val="7.45989160229773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BBE-42AD-942F-7FA31DD4639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'Summary &amp; Calculations'!$O$3:$O$6</c:f>
              <c:strCache>
                <c:ptCount val="4"/>
                <c:pt idx="0">
                  <c:v>Apartment</c:v>
                </c:pt>
                <c:pt idx="1">
                  <c:v>Villa</c:v>
                </c:pt>
                <c:pt idx="2">
                  <c:v>Commercial</c:v>
                </c:pt>
                <c:pt idx="3">
                  <c:v>Land</c:v>
                </c:pt>
              </c:strCache>
            </c:strRef>
          </c:cat>
          <c:val>
            <c:numRef>
              <c:f>'Summary &amp; Calculations'!$P$3:$P$6</c:f>
              <c:numCache>
                <c:formatCode>General</c:formatCode>
                <c:ptCount val="4"/>
                <c:pt idx="0">
                  <c:v>14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BE-42AD-942F-7FA31DD46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23504"/>
        <c:axId val="9619664"/>
      </c:barChart>
      <c:catAx>
        <c:axId val="96235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19664"/>
        <c:crosses val="autoZero"/>
        <c:auto val="1"/>
        <c:lblAlgn val="ctr"/>
        <c:lblOffset val="100"/>
        <c:noMultiLvlLbl val="0"/>
      </c:catAx>
      <c:valAx>
        <c:axId val="961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62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c:rich>
      </c:tx>
      <c:layout>
        <c:manualLayout>
          <c:xMode val="edge"/>
          <c:yMode val="edge"/>
          <c:x val="4.7423076923076922E-2"/>
          <c:y val="3.39120032470075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24148501665890601"/>
          <c:y val="0.1902314814814815"/>
          <c:w val="0.52996299067523889"/>
          <c:h val="0.75884259259259268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D2E-453D-8AEF-01C8871416C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D2E-453D-8AEF-01C8871416C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D2E-453D-8AEF-01C8871416C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D2E-453D-8AEF-01C8871416C2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'Summary &amp; Calculations'!$S$3:$S$6</c:f>
              <c:strCache>
                <c:ptCount val="4"/>
                <c:pt idx="0">
                  <c:v>Avaiable</c:v>
                </c:pt>
                <c:pt idx="1">
                  <c:v>Under Offer</c:v>
                </c:pt>
                <c:pt idx="2">
                  <c:v>Rented</c:v>
                </c:pt>
                <c:pt idx="3">
                  <c:v>Sold</c:v>
                </c:pt>
              </c:strCache>
            </c:strRef>
          </c:cat>
          <c:val>
            <c:numRef>
              <c:f>'Summary &amp; Calculations'!$T$3:$T$6</c:f>
              <c:numCache>
                <c:formatCode>General</c:formatCode>
                <c:ptCount val="4"/>
                <c:pt idx="0">
                  <c:v>23</c:v>
                </c:pt>
                <c:pt idx="1">
                  <c:v>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2E-453D-8AEF-01C8871416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</a:t>
            </a:r>
            <a:r>
              <a:rPr lang="en-US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(Status)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4007567804024496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392-4785-9589-C45D1C52D1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392-4785-9589-C45D1C52D1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392-4785-9589-C45D1C52D175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'Summary &amp; Calculations'!$X$3:$X$5</c:f>
              <c:strCache>
                <c:ptCount val="2"/>
                <c:pt idx="0">
                  <c:v>Mortgage</c:v>
                </c:pt>
                <c:pt idx="1">
                  <c:v>Cash</c:v>
                </c:pt>
              </c:strCache>
            </c:strRef>
          </c:cat>
          <c:val>
            <c:numRef>
              <c:f>'Summary &amp; Calculations'!$Y$3:$Y$5</c:f>
              <c:numCache>
                <c:formatCode>General</c:formatCode>
                <c:ptCount val="3"/>
                <c:pt idx="0">
                  <c:v>24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92-4785-9589-C45D1C52D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7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72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7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8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48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79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8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0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4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3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76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67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690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1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685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it.ly/3Lbphb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BECD-8B79-F632-93C1-681E3E73B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18275269-3486-984A-EA78-E45E7FAE22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DF77A-C2E1-825D-012F-2517E893A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9703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Real Estate Agency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9D016DA-7D9B-8806-0EB7-3B68EE790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1492898"/>
            <a:ext cx="10572000" cy="458133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Course: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CSC-100L Applications of Information and Communication Technologies 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Mam Ramsha Khalid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Session: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FALL 2025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Members: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dirty="0"/>
              <a:t>Moghees Mohiuddin		Roll No. 2025-CS-210</a:t>
            </a:r>
          </a:p>
          <a:p>
            <a:r>
              <a:rPr lang="en-US" dirty="0"/>
              <a:t>		M. Arslan Emran			Roll No. 2025-CS-200</a:t>
            </a:r>
          </a:p>
          <a:p>
            <a:r>
              <a:rPr lang="en-US" dirty="0"/>
              <a:t>		M. Shahzaib				Roll No. 2025-CS-204</a:t>
            </a:r>
          </a:p>
          <a:p>
            <a:r>
              <a:rPr lang="en-US" dirty="0"/>
              <a:t>		MA. Choudhary			Roll No. 2025-CS-184</a:t>
            </a:r>
          </a:p>
          <a:p>
            <a:r>
              <a:rPr lang="en-US" dirty="0"/>
              <a:t>		Muhammad Anas		Roll No. 2025-CS-229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428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F199-ECC6-2006-8C0E-3284609D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9F5E7C6D-EE21-BD9A-5FA3-1BF03C11AB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0A3004-814D-1715-1830-F0BE9538A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9703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2E535B5-9538-D55F-A1B7-0945E77B7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1772816"/>
            <a:ext cx="9826897" cy="444137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real estate agency helps clients buy, sell, and manage properties such as land, apartments, villas, and commercial buildings.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project develops a </a:t>
            </a:r>
            <a:r>
              <a:rPr lang="en-US" b="1" dirty="0"/>
              <a:t>user-friendly real estate website</a:t>
            </a:r>
            <a:r>
              <a:rPr lang="en-US" dirty="0"/>
              <a:t> that acts as a secure and organized platform for buyers, sellers, and agents.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Key sections include </a:t>
            </a:r>
            <a:r>
              <a:rPr lang="en-US" b="1" dirty="0"/>
              <a:t>Home</a:t>
            </a:r>
            <a:r>
              <a:rPr lang="en-US" dirty="0"/>
              <a:t>, </a:t>
            </a:r>
            <a:r>
              <a:rPr lang="en-US" b="1" dirty="0"/>
              <a:t>Buy</a:t>
            </a:r>
            <a:r>
              <a:rPr lang="en-US" dirty="0"/>
              <a:t>, </a:t>
            </a:r>
            <a:r>
              <a:rPr lang="en-US" b="1" dirty="0"/>
              <a:t>Sell</a:t>
            </a:r>
            <a:r>
              <a:rPr lang="en-US" dirty="0"/>
              <a:t>, </a:t>
            </a:r>
            <a:r>
              <a:rPr lang="en-US" b="1" dirty="0"/>
              <a:t>Agents</a:t>
            </a:r>
            <a:r>
              <a:rPr lang="en-US" dirty="0"/>
              <a:t>, </a:t>
            </a:r>
            <a:r>
              <a:rPr lang="en-US" b="1" dirty="0"/>
              <a:t>About Us</a:t>
            </a:r>
            <a:r>
              <a:rPr lang="en-US" dirty="0"/>
              <a:t>, and </a:t>
            </a:r>
            <a:r>
              <a:rPr lang="en-US" b="1" dirty="0"/>
              <a:t>Feedback</a:t>
            </a:r>
            <a:r>
              <a:rPr lang="en-US" dirty="0"/>
              <a:t> to simplify property search, listing, and communication.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website improves transparency, trust, and efficiency while demonstrating how modern real estate businesses operate digitally.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D881882-C93C-85BA-39E4-B4B6610023A1}"/>
              </a:ext>
            </a:extLst>
          </p:cNvPr>
          <p:cNvSpPr/>
          <p:nvPr/>
        </p:nvSpPr>
        <p:spPr>
          <a:xfrm>
            <a:off x="5663681" y="643812"/>
            <a:ext cx="727788" cy="849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43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9724D-32B0-BED0-F0CA-D9103F1B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19E3ECCF-79A3-A5F9-78D6-6A27059406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3E5D0F-9F4B-57F2-536F-699BF90A7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9703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E7F456-7E82-875B-055A-8190B0661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2183363"/>
            <a:ext cx="9826897" cy="250060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 design a clear home page presenting the company and its services.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 provide Buy and Sell sections for easy property searching and listing.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 display detailed property information and professional agent profiles.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To help users choose suitable agents based on their needs.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 build trust through an About Us page and improve services using user feedback.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5C120B5-031D-F103-E686-2FBB4F3772B7}"/>
              </a:ext>
            </a:extLst>
          </p:cNvPr>
          <p:cNvSpPr/>
          <p:nvPr/>
        </p:nvSpPr>
        <p:spPr>
          <a:xfrm>
            <a:off x="4883020" y="643812"/>
            <a:ext cx="727788" cy="849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5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34F14-A90F-EC7D-60F8-107BF4DD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CAFB-A9F4-FE19-79EF-9E84AB0F9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30629"/>
            <a:ext cx="10572000" cy="8770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WEBSITE OVERVIEW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28D3987-3C8E-3551-3C10-66D404D09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1007706"/>
            <a:ext cx="9826897" cy="41054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Our website consists of eight main pages designed for easy navigation.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D3972-3180-67B7-4965-EA5016F8A49E}"/>
              </a:ext>
            </a:extLst>
          </p:cNvPr>
          <p:cNvSpPr txBox="1"/>
          <p:nvPr/>
        </p:nvSpPr>
        <p:spPr>
          <a:xfrm>
            <a:off x="810001" y="1679510"/>
            <a:ext cx="19985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Home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Buy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Agents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About us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Feedback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Mortgage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Gallery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6FF77F-7C44-87E9-BB9D-C6661607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20482" y="1845260"/>
            <a:ext cx="9271518" cy="424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6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E892-B496-4542-CA83-9255B7DE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D6BA-EBF5-D007-70D2-072EE5189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30629"/>
            <a:ext cx="10572000" cy="8770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WEBSITE OVERVIEW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95B1CCA-93AE-E306-FEF2-B1938D3AF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364" y="1007706"/>
            <a:ext cx="9826897" cy="410547"/>
          </a:xfrm>
        </p:spPr>
        <p:txBody>
          <a:bodyPr>
            <a:normAutofit/>
          </a:bodyPr>
          <a:lstStyle/>
          <a:p>
            <a:r>
              <a:rPr lang="en-US" b="1" u="sng" dirty="0"/>
              <a:t>HOME</a:t>
            </a:r>
            <a:endParaRPr lang="en-U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33BADB-7DB0-A46C-C2F8-0B3280732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1" y="1623527"/>
            <a:ext cx="10470710" cy="429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304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C60E-FE34-9CCE-538C-80613D63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9520AD73-DBD4-4933-6EC6-889EF19729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F3BE0B-25E4-779D-CA45-74A7011DC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9703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14DB28A-6137-CC82-BEEB-B7AF5F18D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2183363"/>
            <a:ext cx="9826897" cy="250060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Clean UI for easy navigation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Separate pages for buyers and sellers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Simple color scheme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Organized data display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2028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60273-0140-9E37-7199-A3DBA705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253860A2-D035-2138-46B0-C167AB2FE9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1125" y="405127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1EA8-8C2A-4FB3-C367-F52B9508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9703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Inventory, Status, Deal 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F183C97-82DB-D5B6-11F0-3195FCF0E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085184"/>
            <a:ext cx="9826897" cy="52251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We used Excel to analyze business performance including status, deal, inventory.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58D4342-0852-DDFB-51C3-7C9D96D3D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305246"/>
              </p:ext>
            </p:extLst>
          </p:nvPr>
        </p:nvGraphicFramePr>
        <p:xfrm>
          <a:off x="810001" y="2234565"/>
          <a:ext cx="2918460" cy="2388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5C70D07-A7DA-4084-969B-971F4C76E716}"/>
              </a:ext>
            </a:extLst>
          </p:cNvPr>
          <p:cNvGraphicFramePr>
            <a:graphicFrameLocks/>
          </p:cNvGraphicFramePr>
          <p:nvPr/>
        </p:nvGraphicFramePr>
        <p:xfrm>
          <a:off x="4636770" y="2227650"/>
          <a:ext cx="2918460" cy="240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0F6D81B-4642-AFD2-A82E-5CBE627430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514950"/>
              </p:ext>
            </p:extLst>
          </p:nvPr>
        </p:nvGraphicFramePr>
        <p:xfrm>
          <a:off x="8289251" y="2219325"/>
          <a:ext cx="2872740" cy="2419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0628229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Graphic spid="3" grpId="0">
        <p:bldAsOne/>
      </p:bldGraphic>
      <p:bldGraphic spid="6" grpId="0">
        <p:bldAsOne/>
      </p:bldGraphic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6076-DCD5-CFC2-8CBD-3803679A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1F64-1889-80F9-E5A1-C235DD8E3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30629"/>
            <a:ext cx="10572000" cy="8770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PROPERTY TOUR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0EBAF63-14BC-9C30-73FD-E6C60B840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1007706"/>
            <a:ext cx="9826897" cy="41054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gallery works as a virtual tour for users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ABAE9A-A2C0-1473-F302-3FC109580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39551"/>
            <a:ext cx="11056775" cy="47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7C6C-7072-3810-64B0-8E17D695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5851CD4E-192A-FE9F-AC12-C9D809B3DB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25CBB1-FA24-1FC4-375F-DAB64C59F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66247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Our Services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2202E30-E0A4-45CF-4770-7E6E698CB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449078"/>
            <a:ext cx="9826897" cy="335902"/>
          </a:xfrm>
        </p:spPr>
        <p:txBody>
          <a:bodyPr>
            <a:normAutofit fontScale="70000" lnSpcReduction="20000"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8B0DB9-C8EC-36D1-8028-2B48D5784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2" y="1184988"/>
            <a:ext cx="10048875" cy="1632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3D3E56-D0BF-18A1-6B7A-834F8295F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2" y="2917007"/>
            <a:ext cx="10048875" cy="1632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F2A935-EF50-1DBA-C077-F9417BA54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62" y="4629041"/>
            <a:ext cx="10072687" cy="16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6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A7A-544A-9492-BE59-130F99DE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06AD5827-445F-F317-20FB-FE8C655A88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902C54-615C-88A1-AC79-DC33E18C5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66247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Our Services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DF27A17-EB47-CBF9-B324-D72DC0C43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449078"/>
            <a:ext cx="9826897" cy="335902"/>
          </a:xfrm>
        </p:spPr>
        <p:txBody>
          <a:bodyPr>
            <a:normAutofit fontScale="70000" lnSpcReduction="20000"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781BA-5E7A-D3FC-03BE-7D6449D6B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293045"/>
            <a:ext cx="9753600" cy="2135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EF4394-F503-1E04-7369-BC2DCE648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537058"/>
            <a:ext cx="9753600" cy="213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7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0114-9886-851A-3015-625C6416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coworkers collaborating around a table">
            <a:extLst>
              <a:ext uri="{FF2B5EF4-FFF2-40B4-BE49-F238E27FC236}">
                <a16:creationId xmlns:a16="http://schemas.microsoft.com/office/drawing/2014/main" id="{65E7A05B-43AD-F1FC-00A7-416216E3D1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0456" y="414458"/>
            <a:ext cx="11531088" cy="6029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F6124F-B54B-FCDB-96D8-2F728FE6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522514"/>
            <a:ext cx="10572000" cy="9703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GITHUB DEMO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D18AE55-4DE3-C9A7-1E44-1B6575DEB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2183363"/>
            <a:ext cx="9826897" cy="2500604"/>
          </a:xfrm>
        </p:spPr>
        <p:txBody>
          <a:bodyPr>
            <a:normAutofit/>
          </a:bodyPr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GitHub Link: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https://bit.ly/3Lbphbh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Website Link: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https://bit.ly/45hm94z</a:t>
            </a:r>
          </a:p>
        </p:txBody>
      </p:sp>
    </p:spTree>
    <p:extLst>
      <p:ext uri="{BB962C8B-B14F-4D97-AF65-F5344CB8AC3E}">
        <p14:creationId xmlns:p14="http://schemas.microsoft.com/office/powerpoint/2010/main" val="2452636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15C130-17B0-43C9-B99C-584294C40B5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F0B771C-53D0-4C6A-8C2A-F95E45907F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1812AF-5C4C-4B75-9015-C90088D3D4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Agency design</Template>
  <TotalTime>208</TotalTime>
  <Words>355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Times New Roman</vt:lpstr>
      <vt:lpstr>Wingdings</vt:lpstr>
      <vt:lpstr>Wingdings 2</vt:lpstr>
      <vt:lpstr>Quotable</vt:lpstr>
      <vt:lpstr>Real Estate Agency</vt:lpstr>
      <vt:lpstr>INTRODUCTION</vt:lpstr>
      <vt:lpstr>OBJECTIVES</vt:lpstr>
      <vt:lpstr>WEBSITE OVERVIEW</vt:lpstr>
      <vt:lpstr>WEBSITE OVERVIEW</vt:lpstr>
      <vt:lpstr>DESIGN</vt:lpstr>
      <vt:lpstr>Inventory, Status, Deal  </vt:lpstr>
      <vt:lpstr>PROPERTY TOUR</vt:lpstr>
      <vt:lpstr>Our Services</vt:lpstr>
      <vt:lpstr>Our Services</vt:lpstr>
      <vt:lpstr>GITHUB 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Mian Anas</dc:creator>
  <cp:lastModifiedBy>Mian Anas</cp:lastModifiedBy>
  <cp:revision>12</cp:revision>
  <dcterms:created xsi:type="dcterms:W3CDTF">2026-01-04T19:27:29Z</dcterms:created>
  <dcterms:modified xsi:type="dcterms:W3CDTF">2026-01-05T05:12:50Z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